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12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43AF1-8407-4B9D-868B-AF010FBD1DF2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538193-31AE-42C2-BBA9-66531813D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30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38193-31AE-42C2-BBA9-66531813D38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4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96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525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23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02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433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29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952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8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77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8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39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9811E-2F41-4FD5-9738-EDA8C543C22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84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942" y="744855"/>
            <a:ext cx="11409553" cy="13463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200043" y="5762677"/>
            <a:ext cx="4653601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1905" algn="ctr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Times New Roman"/>
                <a:cs typeface="Times New Roman"/>
              </a:rPr>
              <a:t>BY</a:t>
            </a:r>
            <a:endParaRPr lang="en-US" sz="1800" b="1" spc="-25" dirty="0">
              <a:latin typeface="Times New Roman"/>
              <a:cs typeface="Times New Roman"/>
            </a:endParaRPr>
          </a:p>
          <a:p>
            <a:pPr marL="12065" marR="5080" indent="1905" algn="ctr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MOHANARANGAN</a:t>
            </a:r>
            <a:r>
              <a:rPr lang="en-US" sz="1800" b="1" spc="-10" dirty="0">
                <a:latin typeface="Times New Roman"/>
                <a:cs typeface="Times New Roman"/>
              </a:rPr>
              <a:t>.S</a:t>
            </a:r>
            <a:r>
              <a:rPr sz="1800" b="1" spc="-10" dirty="0">
                <a:latin typeface="Times New Roman"/>
                <a:cs typeface="Times New Roman"/>
              </a:rPr>
              <a:t>(192511439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lang="en-US" sz="1800" spc="-1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0200" y="3111117"/>
            <a:ext cx="9453245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 fontAlgn="ctr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CSA-0503 TECHNICAL PRESSENTATION</a:t>
            </a:r>
          </a:p>
          <a:p>
            <a:pPr algn="ctr" fontAlgn="ctr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21071-07F4-3AD5-A780-452F5044B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5370" y="1068773"/>
            <a:ext cx="10515600" cy="435133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models define how data is stored and organized.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represent relationships among data.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data models are: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</a:p>
          <a:p>
            <a:endParaRPr lang="en-US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C2175FED-7B73-B7DB-7E87-7C91B5BC78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2" y="-12"/>
            <a:ext cx="1219729" cy="1160848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DB5BCE76-6C1B-72CF-A50C-33AF82A688F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2070" y="-38"/>
            <a:ext cx="1247164" cy="1169715"/>
          </a:xfrm>
          <a:prstGeom prst="rect">
            <a:avLst/>
          </a:prstGeom>
        </p:spPr>
      </p:pic>
      <p:pic>
        <p:nvPicPr>
          <p:cNvPr id="2" name="Picture 1" descr="https://images.openai.com/static-rsc-4/gzz2JQ3XfB58aWLPnRfs9HUxjX4h0lI_EjH3OoXNszdP9SDOUOA91Ljo8gw0_BNveAnV7qtbTW09F0Es-2zMLbAKWoGZaEMcW0BVPJF7qp8wmf5UMStM3txdxHNKUIc1Sxn1X-rwXGOWfv3eaN8WImMFRoWR_u6uyHXhbDzPuH2ONbzl3kNcDeSrbThB6Jz3?purpose=fullsize">
            <a:extLst>
              <a:ext uri="{FF2B5EF4-FFF2-40B4-BE49-F238E27FC236}">
                <a16:creationId xmlns:a16="http://schemas.microsoft.com/office/drawing/2014/main" id="{509F529F-0A20-7A88-606A-4D59FBB99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800" y="2904688"/>
            <a:ext cx="3495064" cy="233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91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C45AA-9EA0-7BE4-642C-8AB457206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733A3-B2A8-3F8C-2961-6964F5C0D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4553" y="1474784"/>
            <a:ext cx="10753725" cy="3766185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Data Model?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Blueprint for organizing data.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structure and relationships.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database design.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efficient data management</a:t>
            </a:r>
            <a:r>
              <a:rPr lang="en-US" dirty="0"/>
              <a:t>.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67E13163-784D-D2A6-A07C-A1240698C96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2" y="-12"/>
            <a:ext cx="1219729" cy="1160848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6570F0AE-25CA-7519-1FCB-2A92D1672DD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2070" y="-38"/>
            <a:ext cx="1247164" cy="1169715"/>
          </a:xfrm>
          <a:prstGeom prst="rect">
            <a:avLst/>
          </a:prstGeom>
        </p:spPr>
      </p:pic>
      <p:pic>
        <p:nvPicPr>
          <p:cNvPr id="2" name="Picture 1" descr="https://images.openai.com/static-rsc-4/ul6W-8kah5MpA5lvFrOc24gb51ItdmbO2lvPbEE-LVS5ly9bpwH4EFCJKet3Bu3NzjLDDpg8mLqaSXOV4wHcCYxFj9vQpqGJDtNKC86NV8_GowEKM5qTM6QJBOCmu2cR65rB9z_0qgu-CrycJf9XiVzP_5KYyXtg_cL9Opc7Oxj9ScMHNSvvKkejLYRzTIBs?purpose=fullsize">
            <a:extLst>
              <a:ext uri="{FF2B5EF4-FFF2-40B4-BE49-F238E27FC236}">
                <a16:creationId xmlns:a16="http://schemas.microsoft.com/office/drawing/2014/main" id="{FA28F3D1-4BC5-09E0-06E7-77965F6B1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7728" y="2342626"/>
            <a:ext cx="4227527" cy="338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379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7E5B0-C11F-2F05-8DA5-951A61BB6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9E6D7-C10A-0129-F5A1-559231F4E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281" y="1347453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MODEL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Tree-like structure.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Parent–Child relationship.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one-to-many relationship.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data access.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represent many-to-many relationships.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3D6B37-6E81-F6FF-F1C8-56462DEF8B57}"/>
              </a:ext>
            </a:extLst>
          </p:cNvPr>
          <p:cNvSpPr txBox="1"/>
          <p:nvPr/>
        </p:nvSpPr>
        <p:spPr>
          <a:xfrm>
            <a:off x="3047301" y="2553934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.</a:t>
            </a:r>
          </a:p>
        </p:txBody>
      </p:sp>
      <p:pic>
        <p:nvPicPr>
          <p:cNvPr id="6" name="object 2">
            <a:extLst>
              <a:ext uri="{FF2B5EF4-FFF2-40B4-BE49-F238E27FC236}">
                <a16:creationId xmlns:a16="http://schemas.microsoft.com/office/drawing/2014/main" id="{C808C46F-B093-0871-2C1F-2D45F08F4E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2" y="-12"/>
            <a:ext cx="1219729" cy="1160848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D1C51855-ADB6-FB5C-3B3F-252182B90A2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2070" y="-38"/>
            <a:ext cx="1247164" cy="116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71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75276-40D3-69A3-7CE2-B28E04835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24FA7-6F9E-DE09-1FF5-FC5BA5D33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373" y="125333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MODEL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structure.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many-to-many relationships.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connected through links.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flexible than hierarchical model.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to design.</a:t>
            </a:r>
          </a:p>
          <a:p>
            <a:endParaRPr lang="en-US" dirty="0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D4D51E1C-2BD8-1E6E-49C2-265A5C91601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2" y="-12"/>
            <a:ext cx="1219729" cy="1160848"/>
          </a:xfrm>
          <a:prstGeom prst="rect">
            <a:avLst/>
          </a:prstGeom>
        </p:spPr>
      </p:pic>
      <p:pic>
        <p:nvPicPr>
          <p:cNvPr id="6" name="object 3">
            <a:extLst>
              <a:ext uri="{FF2B5EF4-FFF2-40B4-BE49-F238E27FC236}">
                <a16:creationId xmlns:a16="http://schemas.microsoft.com/office/drawing/2014/main" id="{B2D7B27F-78E4-FC26-3D93-769EDC058E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2070" y="-38"/>
            <a:ext cx="1247164" cy="116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109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19D8C-7FCA-D8F4-F69B-BDFADBC55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51F85-0619-6F2B-D9C4-9E032BB8A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3634" y="1160836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MODEL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tables.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rows and columns.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using Primary Key and Foreign Key.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widely used database model</a:t>
            </a:r>
          </a:p>
          <a:p>
            <a:endParaRPr lang="en-US" dirty="0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9793F73B-05DD-A54F-F7E2-0E3DDE2DA3D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2" y="-12"/>
            <a:ext cx="1219729" cy="1160848"/>
          </a:xfrm>
          <a:prstGeom prst="rect">
            <a:avLst/>
          </a:prstGeom>
        </p:spPr>
      </p:pic>
      <p:pic>
        <p:nvPicPr>
          <p:cNvPr id="6" name="object 3">
            <a:extLst>
              <a:ext uri="{FF2B5EF4-FFF2-40B4-BE49-F238E27FC236}">
                <a16:creationId xmlns:a16="http://schemas.microsoft.com/office/drawing/2014/main" id="{276DA4B5-3108-CF17-4767-FA6BBD5FCD7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2070" y="-38"/>
            <a:ext cx="1247164" cy="116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776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A4026-2976-5844-2262-85C35E704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CEFA4A-5844-CE44-A8F0-85369AF9D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084" y="932197"/>
            <a:ext cx="12080846" cy="5531520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50000"/>
              </a:lnSpc>
            </a:pPr>
            <a:r>
              <a:rPr lang="en-US" sz="5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Data Models</a:t>
            </a:r>
          </a:p>
          <a:p>
            <a:pPr>
              <a:lnSpc>
                <a:spcPct val="150000"/>
              </a:lnSpc>
            </a:pPr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data in a structured manner. </a:t>
            </a:r>
          </a:p>
          <a:p>
            <a:pPr>
              <a:lnSpc>
                <a:spcPct val="150000"/>
              </a:lnSpc>
            </a:pPr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relationships between data. </a:t>
            </a:r>
          </a:p>
          <a:p>
            <a:pPr>
              <a:lnSpc>
                <a:spcPct val="150000"/>
              </a:lnSpc>
            </a:pPr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data redundancy. </a:t>
            </a:r>
          </a:p>
          <a:p>
            <a:pPr>
              <a:lnSpc>
                <a:spcPct val="150000"/>
              </a:lnSpc>
            </a:pPr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data consistency and accuracy. </a:t>
            </a:r>
          </a:p>
          <a:p>
            <a:pPr>
              <a:lnSpc>
                <a:spcPct val="150000"/>
              </a:lnSpc>
            </a:pPr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data retrieval faster and easier. </a:t>
            </a:r>
          </a:p>
          <a:p>
            <a:pPr>
              <a:lnSpc>
                <a:spcPct val="150000"/>
              </a:lnSpc>
            </a:pPr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efficient database management. </a:t>
            </a:r>
          </a:p>
          <a:p>
            <a:pPr>
              <a:lnSpc>
                <a:spcPct val="150000"/>
              </a:lnSpc>
            </a:pPr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in designing reliable database systems</a:t>
            </a:r>
          </a:p>
          <a:p>
            <a:endParaRPr lang="en-US" dirty="0"/>
          </a:p>
        </p:txBody>
      </p:sp>
      <p:pic>
        <p:nvPicPr>
          <p:cNvPr id="3" name="object 2">
            <a:extLst>
              <a:ext uri="{FF2B5EF4-FFF2-40B4-BE49-F238E27FC236}">
                <a16:creationId xmlns:a16="http://schemas.microsoft.com/office/drawing/2014/main" id="{3AD07A61-28AB-8CF9-B99D-231EE53C087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52" y="-12"/>
            <a:ext cx="1219729" cy="1160848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9FEACD1C-7131-D9F9-D7CE-A41709031AB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52070" y="-38"/>
            <a:ext cx="1247164" cy="1169715"/>
          </a:xfrm>
          <a:prstGeom prst="rect">
            <a:avLst/>
          </a:prstGeom>
        </p:spPr>
      </p:pic>
      <p:pic>
        <p:nvPicPr>
          <p:cNvPr id="2" name="Picture 1" descr="Blog - Structured Data (Schema) เปลี่ยนเว็บธรรมดาให้โดดเด่นบน Google">
            <a:extLst>
              <a:ext uri="{FF2B5EF4-FFF2-40B4-BE49-F238E27FC236}">
                <a16:creationId xmlns:a16="http://schemas.microsoft.com/office/drawing/2014/main" id="{15C9C578-A677-B730-23AC-8B4360968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7079" y="2527183"/>
            <a:ext cx="3870121" cy="217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432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9B041-EF49-DA95-6D46-F3B0196D3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BD0B8-83D1-9489-E0C8-4D2EE0C64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16" y="4250043"/>
            <a:ext cx="10515600" cy="4351338"/>
          </a:xfrm>
        </p:spPr>
        <p:txBody>
          <a:bodyPr/>
          <a:lstStyle/>
          <a:p>
            <a:r>
              <a:rPr lang="en-US" b="1" dirty="0"/>
              <a:t>Key Points</a:t>
            </a:r>
          </a:p>
          <a:p>
            <a:r>
              <a:rPr lang="en-US" dirty="0"/>
              <a:t>Hierarchical uses a tree structure. </a:t>
            </a:r>
          </a:p>
          <a:p>
            <a:r>
              <a:rPr lang="en-US" dirty="0"/>
              <a:t>Network uses linked records. </a:t>
            </a:r>
          </a:p>
          <a:p>
            <a:r>
              <a:rPr lang="en-US" dirty="0"/>
              <a:t>Relational stores data in tables with relationships.</a:t>
            </a:r>
          </a:p>
          <a:p>
            <a:endParaRPr lang="en-US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03D0BA4A-8ED1-67D6-5B6F-561B3421A2B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2" y="-12"/>
            <a:ext cx="1219729" cy="11608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A4F711-0526-760D-AAD2-7CE682A96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953" y="486561"/>
            <a:ext cx="5465078" cy="3643385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34E4C6AF-53DF-A05A-FC1B-F835C5B68A2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52070" y="-38"/>
            <a:ext cx="1247164" cy="116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639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F0A97-F57D-C926-2773-12CDEFA80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DF680-755D-4EDB-658E-ECD88C659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5460" y="947957"/>
            <a:ext cx="11014745" cy="517600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Advantages</a:t>
            </a:r>
          </a:p>
          <a:p>
            <a:pPr marL="0" indent="0">
              <a:buNone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implementation. 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access for tree-structured data. </a:t>
            </a:r>
          </a:p>
          <a:p>
            <a:pPr marL="0" indent="0">
              <a:buNone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complex relationships. 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data navigation. </a:t>
            </a:r>
          </a:p>
          <a:p>
            <a:pPr marL="0" indent="0">
              <a:buNone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maintenance. 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flexibility. 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security. 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SQL queries.</a:t>
            </a:r>
          </a:p>
          <a:p>
            <a:endParaRPr lang="en-US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F4DD13DE-9F8C-15EA-C93E-9E97592D65B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2" y="-12"/>
            <a:ext cx="1219729" cy="1160848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ED1214B8-A9B0-D10D-BB89-F1767A19A8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2070" y="-38"/>
            <a:ext cx="1247164" cy="1169715"/>
          </a:xfrm>
          <a:prstGeom prst="rect">
            <a:avLst/>
          </a:prstGeom>
        </p:spPr>
      </p:pic>
      <p:pic>
        <p:nvPicPr>
          <p:cNvPr id="2" name="Picture 1" descr="https://images.openai.com/static-rsc-4/_kNtU5gX4BSG4mcZqj2PO23phH8rB8IIGdAW2EVOcx1sKAntAsoATUH_tUkXtquMq0ayN2JfwDt0WrwT6_M_mXKQtbha7tAnOEfKRY_PgGJjkwDBZFuow0Z6DykOpXtIJeNJMdEopodnWh7ZZTEIkZBlnjpvxUfz4ioCIM8BsFmbFsGnnfy9HkaXdx3N0HLq?purpose=fullsize">
            <a:extLst>
              <a:ext uri="{FF2B5EF4-FFF2-40B4-BE49-F238E27FC236}">
                <a16:creationId xmlns:a16="http://schemas.microsoft.com/office/drawing/2014/main" id="{A7AFE56E-A78E-117C-98DC-D3C5D6293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7902" y="2023844"/>
            <a:ext cx="3573024" cy="3580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27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70B86-47BA-E792-E44C-05B6288E6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88467-A3B6-B3B7-30F8-CB7EA574C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287" y="1333850"/>
            <a:ext cx="7961153" cy="457466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models provide different ways to organize and manage data.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Model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best for simple parent-child relationships.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Model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suitable for complex many-to-many relationships.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Model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popular because it is flexible, easy to use, and supports SQL.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data model improves database performance and efficiency.</a:t>
            </a:r>
          </a:p>
          <a:p>
            <a:endParaRPr lang="en-US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51F90375-7557-8301-4172-E7B7801FCAE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2" y="-12"/>
            <a:ext cx="1219729" cy="1160848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B5E1843C-B666-64C1-D3EB-45397F7A07F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2070" y="-38"/>
            <a:ext cx="1247164" cy="1169715"/>
          </a:xfrm>
          <a:prstGeom prst="rect">
            <a:avLst/>
          </a:prstGeom>
        </p:spPr>
      </p:pic>
      <p:pic>
        <p:nvPicPr>
          <p:cNvPr id="2" name="Picture 1" descr="https://images.openai.com/static-rsc-4/dyPfWNlFACMV3A7sleV-eIAtb9eBNicrQNV0zRNGac0oy7PhCVcpCu9vyTfK2tJ8aM_8SlIpjw23AGrJnmlVAmDrrBvTYpQ8bGdPfZe4DtCPHbFFqy6G24vl4nWgIAUx3AvFHGzOitrY-nxk6-Bpmh64yLTQPblWakdeGEMqpfw0Ek7TmZKU80EiDR-cAnQD?purpose=fullsize">
            <a:extLst>
              <a:ext uri="{FF2B5EF4-FFF2-40B4-BE49-F238E27FC236}">
                <a16:creationId xmlns:a16="http://schemas.microsoft.com/office/drawing/2014/main" id="{0946AA5E-1187-7A7D-D24D-0DE446747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6068" y="2290478"/>
            <a:ext cx="2661407" cy="266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736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76</TotalTime>
  <Words>309</Words>
  <Application>Microsoft Office PowerPoint</Application>
  <PresentationFormat>Widescreen</PresentationFormat>
  <Paragraphs>67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 rangan</dc:creator>
  <cp:lastModifiedBy>mohan rangan</cp:lastModifiedBy>
  <cp:revision>4</cp:revision>
  <dcterms:created xsi:type="dcterms:W3CDTF">2026-07-22T17:58:49Z</dcterms:created>
  <dcterms:modified xsi:type="dcterms:W3CDTF">2026-07-23T05:37:23Z</dcterms:modified>
</cp:coreProperties>
</file>